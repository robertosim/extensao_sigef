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SIGEF Extractor &amp; Downloader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Segoe UI"/>
              </a:defRPr>
            </a:pPr>
            <a:r>
              <a:t>Automacao de Extracao e Download de Dados Georreferenciados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Versao 2.1  |  Manifest V3  |  Google Chrome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90D9"/>
                </a:solidFill>
                <a:latin typeface="Segoe UI"/>
              </a:defRPr>
            </a:pPr>
            <a:r>
              <a:t>Desenvolvido por Roberto Simoes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robsimoes@gmail.com  |  +55 (48) 99679-3828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Apresentacao para Diretoria  |  Julho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Objetivo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Por que este software foi desenvolvido?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Segoe UI"/>
              </a:defRPr>
            </a:pPr>
            <a:r>
              <a:t>O SIGEF Extractor &amp; Downloader automatiza tarefas manuais repetitivas na consulta publica de parcelas do SIGEF (INCRA), reduzindo tempo de processamento de horas para minutos e eliminando erros de digitacao.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2004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09728" cy="1645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Reducao de Tempo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Processamento que levava horas agora e feito em minutos com automacao completa.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560320"/>
            <a:ext cx="32004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560320"/>
            <a:ext cx="109728" cy="16459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Eliminacao de Erros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54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Dados extraidos automaticamente sem digitacao manual, garantindo consistencia e confiabilidade.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60320"/>
            <a:ext cx="32004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560320"/>
            <a:ext cx="109728" cy="1645920"/>
          </a:xfrm>
          <a:prstGeom prst="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Processamento em Lote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54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Segoe UI"/>
              </a:defRPr>
            </a:pPr>
            <a:r>
              <a:t>Multiplas parcelas processadas sequencialmente com controle de pausa e retomada.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572000"/>
            <a:ext cx="9418320" cy="155448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79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Captura de tela do SIGEF ou fluxo manual vs automatizado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Funcionalidades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3 modulos de operacao integrados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1. EXTRACAO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Scraper automatizado que busca parcelas por Codigo, CPF ou CNPJ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Entrada: Codigo, CPF ou CNPJ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Formato automatico dos dados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Paginacao automatica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Saida: CSV consolidado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Campos: Nome, Codigo, Area, Detentor, CNS, Matricula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47472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47472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Segoe UI"/>
              </a:defRPr>
            </a:pPr>
            <a:r>
              <a:t>2. DOWNLOAD EM LOTE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Download direto de documentos oficiais do SIGEF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PDF: Planta + Memorial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CSV: Exportacao de dados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SHP: Shapefile (.zip)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Organizacao por pastas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Controle de conflito (overwrite)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371600"/>
            <a:ext cx="347472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371600"/>
            <a:ext cx="3474720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Segoe UI"/>
              </a:defRPr>
            </a:pPr>
            <a:r>
              <a:t>3. MAPA INTERATIVO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Geracao de mapa HTML com poligonos WKT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517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Parse de CSV com WKT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POLYGON e MULTIPOLYGON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Leaflet.js + Google Maps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Legenda com area (ha)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Links diretos para SIGEF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Ciclo do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Fluxo completo de operacao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560320" cy="1828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INSTALACAO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Carregar extensao</a:t>
            </a:r>
            <a:br/>
            <a:r>
              <a:t>no Chrome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011680"/>
            <a:ext cx="2560320" cy="1828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EXTRACAO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Buscar parcelas</a:t>
            </a:r>
            <a:br/>
            <a:r>
              <a:t>e gerar 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11680"/>
            <a:ext cx="2560320" cy="1828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Baixar PDFs,</a:t>
            </a:r>
            <a:br/>
            <a:r>
              <a:t>CSVs e SHPs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011680"/>
            <a:ext cx="2560320" cy="1828800"/>
          </a:xfrm>
          <a:prstGeom prst="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MAPA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560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Gerar mapa</a:t>
            </a:r>
            <a:br/>
            <a:r>
              <a:t>HTML interativo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757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757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757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114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&lt;-- Controle de Pausa/Retomada/Parada em qualquer etapa --&gt;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60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Fluxograma detalhado do ciclo do software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Como os Arquivos Sao Preparados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Formatos de entrada e saida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ENTRADA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03520" cy="201168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Formatos aceitos: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Texto plano: Codigo, CPF ou CNPJ (um por linha)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CSV com separador (;): Nome;UUID;...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Pasta com CSVs: poligonos WKT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Segoe UI"/>
              </a:defRPr>
            </a:pPr>
            <a:r>
              <a:t>SAIDA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303520" cy="201168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Arquivos gerados: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CSV consolidado com todos os dados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PDF: Planta + Memorial descritivo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SHP: Shapefile compactado (.zip)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HTML: Mapa interativo com Leaflet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ESTRUTURA DE PASTAS GERADA: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Downloads/</a:t>
            </a:r>
            <a:br/>
            <a:r>
              <a:t>  └── CODIGO_IMOVEL/</a:t>
            </a:r>
            <a:br/>
            <a:r>
              <a:t>        └── Nome_Parcela/</a:t>
            </a:r>
            <a:br/>
            <a:r>
              <a:t>              ├── Nome_Parcela_UUID_planta.pdf</a:t>
            </a:r>
            <a:br/>
            <a:r>
              <a:t>              ├── Nome_Parcela_UUID_memorial.pdf</a:t>
            </a:r>
            <a:br/>
            <a:r>
              <a:t>              ├── Nome_Parcela_UUID.csv</a:t>
            </a:r>
            <a:br/>
            <a:r>
              <a:t>              └── Nome_Parcela_UUID.zip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Interface do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Popup com 4 abas de operacao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ABA 1: EXTRACAO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Textarea para entrada de dados</a:t>
            </a:r>
            <a:br/>
            <a:r>
              <a:t>Radio buttons: Codigo/CPF/CNPJ</a:t>
            </a:r>
            <a:br/>
            <a:r>
              <a:t>Botao: EXTRAIR DADOS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651760" cy="2560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463040"/>
            <a:ext cx="265176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Segoe UI"/>
              </a:defRPr>
            </a:pPr>
            <a:r>
              <a:t>ABA 2: 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Upload de CSV</a:t>
            </a:r>
            <a:br/>
            <a:r>
              <a:t>Checkboxes: PDF/CSV/SHP</a:t>
            </a:r>
            <a:br/>
            <a:r>
              <a:t>Botao: INICIAR DOWNLOAD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651760" cy="2560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2651760" cy="73152"/>
          </a:xfrm>
          <a:prstGeom prst="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5C3A"/>
                </a:solidFill>
                <a:latin typeface="Segoe UI"/>
              </a:defRPr>
            </a:pPr>
            <a:r>
              <a:t>ABA 3: GERAR MAPA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Selecao de pasta</a:t>
            </a:r>
            <a:br/>
            <a:r>
              <a:t>Busca recursiva de CSVs</a:t>
            </a:r>
            <a:br/>
            <a:r>
              <a:t>Botao: GERAR MAPA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651760" cy="256032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63040"/>
            <a:ext cx="2651760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757D"/>
                </a:solidFill>
                <a:latin typeface="Segoe UI"/>
              </a:defRPr>
            </a:pPr>
            <a:r>
              <a:t>ABA 4: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011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Registro de operacoes</a:t>
            </a:r>
            <a:br/>
            <a:r>
              <a:t>Cores por nivel</a:t>
            </a:r>
            <a:br/>
            <a:r>
              <a:t>Copiar/Limpar 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297680"/>
            <a:ext cx="94183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80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Capturas de tela das 4 abas do popup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Fluxo de Extracao - Detalhado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Passo a passo do scraper automatizado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Usuario entra com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Digita Codigo, CPF ou CNPJ na aba Extracao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90D9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Formatacao automatica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Codigo: 13 digitos | CPF: 11 digitos | CNPJ: 14 digitos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90D9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Verificacao de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Extensao verifica se usuario esta logado no SIGEF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90D9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Injecao de busca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03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Script preenche campo correto e clica em Pesquisar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86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90D9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Extracao da tabela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Leitura de todas as linhas da tabela de 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72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90D9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Paginacao automatica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Navega por todas as paginas de resultados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90D9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Geracao do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760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Exporta dados consolidados: Nome, Codigo, Area, etc.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48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Fluxograma da extracao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Fluxo de Download - Detalhado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Processamento em lote de documentos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Carregar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Usuario seleciona arquivo CSV com Nome;UUID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93392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Selecionar 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219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Checkboxes: PDF, CSV, SHP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15184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15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Parse da fila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4378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Leitura e validacao de cada linha do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36976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Para cada parcela: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6557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Extracao do UUID e sanitizacao do nome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58768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Download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873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Planta + Memorial (URLs diretas do SIGEF)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Download 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Exportacao de dados da parcela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102352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02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Download SHP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309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Shapefile compactado (.zip)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724144"/>
            <a:ext cx="4572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24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Organizacao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527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Arquivos salvos em pastas por parcela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48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Fluxograma do download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Geracao do Mapa Interativo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De CSV com WKT para mapa visual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PIPELINE DE PROCESSAMENTO: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Segoe UI"/>
              </a:defRPr>
            </a:pPr>
            <a:r>
              <a:t>CSVs da pasta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Leitura recursiva</a:t>
            </a:r>
            <a:br/>
            <a:r>
              <a:t>de todos os 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920240"/>
            <a:ext cx="201168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Segoe UI"/>
              </a:defRPr>
            </a:pPr>
            <a:r>
              <a:t>Parse WKT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Deteccao de colunas</a:t>
            </a:r>
            <a:br/>
            <a:r>
              <a:t>WKT/GEOMETRIA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920240"/>
            <a:ext cx="201168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Segoe UI"/>
              </a:defRPr>
            </a:pPr>
            <a:r>
              <a:t>Extracao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Conversao de</a:t>
            </a:r>
            <a:br/>
            <a:r>
              <a:t>coordenadas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59" y="1920240"/>
            <a:ext cx="201168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79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Segoe UI"/>
              </a:defRPr>
            </a:pPr>
            <a:r>
              <a:t>Geracao 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Template Leaflet</a:t>
            </a:r>
            <a:br/>
            <a:r>
              <a:t>+ poligonos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1920240"/>
            <a:ext cx="201168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  <a:latin typeface="Segoe UI"/>
              </a:defRPr>
            </a:pPr>
            <a:r>
              <a:t>Download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3774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Salvar mapa</a:t>
            </a:r>
            <a:br/>
            <a:r>
              <a:t>HTML interativo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FORMATOS SUPORTADOS: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POLYGON ((lon lat, lon lat, ...))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MULTIPOLYGON (((lon lat, ...)))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Separador: ponto e virgula (;)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Colunas: WKT, GEOMETRIA, GEOMETRY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Segoe UI"/>
              </a:defRPr>
            </a:pPr>
            <a:r>
              <a:t>CAMADAS DO MAPA: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Google Hibrido (padrao)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Google Satelite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Google Terreno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Legenda com links para SIGEF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40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Exemplo de mapa HTML gerado com poligonos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Arquitetura Tecnica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Componentes e comunicacao interna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20116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popup.html</a:t>
            </a:r>
            <a:br/>
            <a:r>
              <a:t>popup.js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Interface do</a:t>
            </a:r>
            <a:br/>
            <a:r>
              <a:t>usuario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63040"/>
            <a:ext cx="2011680" cy="2011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background.js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Service Worker</a:t>
            </a:r>
            <a:br/>
            <a:r>
              <a:t>Motor 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463040"/>
            <a:ext cx="2011680" cy="2011680"/>
          </a:xfrm>
          <a:prstGeom prst="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content.js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Script injetado</a:t>
            </a:r>
            <a:br/>
            <a:r>
              <a:t>Anti-deteccao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1463040"/>
            <a:ext cx="2011680" cy="20116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799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chrome.storage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799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Persistencia</a:t>
            </a:r>
            <a:br/>
            <a:r>
              <a:t>de estado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2011680" cy="20116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554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SIGEF INCRA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API web</a:t>
            </a:r>
            <a:br/>
            <a:r>
              <a:t>externa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PERMISSOES DO MANIFEST V3: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34747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downloads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Salvar arquivos gerados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389120"/>
            <a:ext cx="34747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tabs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Gerenciar abas de navegacao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389120"/>
            <a:ext cx="34747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scripting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Injetar scripts de automacao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83480"/>
            <a:ext cx="34747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activeTab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Verificar login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983480"/>
            <a:ext cx="34747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Persistir fila e estado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983480"/>
            <a:ext cx="3474720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webNavigation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Rastrear carregamento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39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Diagrama de componentes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Anti-Deteccao e Seguranca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Como o software contorna restricoes do SIGEF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TECNICAS DE ANTI-DETECCAO: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Digitecao caractere a caractere (45-160ms/char)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Cadeia completa de eventos de mouse (5 eventos)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Scroll aleatorio em paginas de detalhe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Mouse move simulado com coordenadas aleatorias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Delays dinamicos entre operacoes (500-2500ms)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User-Agent nativo do Chrome (nao modificado)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SEGURANCA DO SISTEMA: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Permissoes minimas (Manifest V3)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Acesso restrito ao dominio SIGEF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Login manual (nao automatizado)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Retry com 3 tentativas por pagina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Recuperacao automatica de abas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Graceful degradation em erros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10332720" cy="155448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79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Captura de tela mostrando delays ou logs de anti-deteccao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Resultados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Ganhos operacionais com a automacao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651760" cy="22860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Reducao de</a:t>
            </a:r>
            <a:br/>
            <a:r>
              <a:t>90%+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de horas para minutos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651760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ERROS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Eliminacao</a:t>
            </a:r>
            <a:br/>
            <a:r>
              <a:t>de erros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manuais de digitacao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2651760" cy="2286000"/>
          </a:xfrm>
          <a:prstGeom prst="rect">
            <a:avLst/>
          </a:prstGeom>
          <a:solidFill>
            <a:srgbClr val="1E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Multiplas</a:t>
            </a:r>
            <a:br/>
            <a:r>
              <a:t>parcelas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processadas sequencialmente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45920"/>
            <a:ext cx="2651760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ARQUIVOS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Organizacao</a:t>
            </a:r>
            <a:br/>
            <a:r>
              <a:t>automatica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por pasta e parcela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297680"/>
            <a:ext cx="103327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80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Grafico comparativo tempo manual vs automatizado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Roadmap e Melhorias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Proximos passos e evolucao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Segoe UI"/>
              </a:defRPr>
            </a:pPr>
            <a:r>
              <a:t>CURTO PRAZO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474720" cy="274320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Cache de busca (evitar rebusca)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Testes automatizados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Documentacao de API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Melhoria de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MEDIO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474720" cy="274320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Exportacao GeoJSON/GPX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Dashboard web de monitoramento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Internacionalizacao (i18n)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Suporte a outros browsers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Segoe UI"/>
              </a:defRPr>
            </a:pPr>
            <a:r>
              <a:t>LONGO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828800"/>
            <a:ext cx="3474720" cy="2743200"/>
          </a:xfrm>
          <a:prstGeom prst="rect">
            <a:avLst/>
          </a:prstGeom>
          <a:solidFill>
            <a:srgbClr val="F4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9202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Agendamento de execucoes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Integracao com SIGEF API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Assinatura digital de PDFs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• Modo offline/parcial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36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Roadmap visual ou timeline de evolucao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Acoes recomendadas para a diretoria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SIGEF Extractor &amp; Downloader v2.1  |  Roberto Simoes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Aprovacao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Aprovacao para uso em ambiente de producao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23160"/>
            <a:ext cx="54864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Treinamento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97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Treinamento da equipe de operacoes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91839"/>
            <a:ext cx="54864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91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Piloto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661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Execucao piloto com lote controlado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160520"/>
            <a:ext cx="54864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Monitoramento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Acompanhamento de logs e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029200"/>
            <a:ext cx="54864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Segoe UI"/>
              </a:defRPr>
            </a:pPr>
            <a:r>
              <a:t>Expansao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Segoe UI"/>
              </a:defRPr>
            </a:pPr>
            <a:r>
              <a:t>Ampliacao para todos os escritorios regionais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554480"/>
            <a:ext cx="45720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C75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800"/>
              </a:spcBef>
              <a:defRPr sz="1400">
                <a:solidFill>
                  <a:srgbClr val="6C757D"/>
                </a:solidFill>
                <a:latin typeface="Segoe UI"/>
              </a:defRPr>
            </a:pPr>
            <a:r>
              <a:t>[ INSERIR: Cronograma ou timeline de implementacao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90D9"/>
                </a:solidFill>
                <a:latin typeface="Segoe UI"/>
              </a:defRPr>
            </a:pPr>
            <a:r>
              <a:t>SIGEF Extractor &amp; Downloader v2.1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383280"/>
            <a:ext cx="210312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Desenvolvido por Roberto Simoes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robsimoes@gmail.com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Segoe UI"/>
              </a:defRPr>
            </a:pPr>
            <a:r>
              <a:t>+55 (48) 99679-3828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Segoe UI"/>
              </a:defRPr>
            </a:pPr>
            <a:r>
              <a:t>linkedin.com/in/robertosim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Apresentacao para Diretoria  |  Julho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